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Introduce low-code as one approach to building business applications. This talk uses our insurance application to explain useful career skills. It makes no salary or employment guarantee. References: https://www.zoho.com/creator/training/ https://www.zoho.com/creator/certification.html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These are illustrative role pathways, not a survey of vacancies. Explain that job titles vary between employers. A student can demonstrate each area with a concrete project artifact. Reference: https://www.zoho.com/creator/training/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why a drag-and-drop interface still requires engineering judgment. Our high-value review and reminder tests show the need for validation. Role separation and recovery testing remain areas to complete. References: https://www.zoho.com/creator/training/ https://help.zoho.com/portal/en/kb/creator/developer-guide/others/platform-performance/articles/platform-performance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image is our previously captured live claim-type chart. It represents its capture-time records, not current totals. Explain one form relationship and one tested workflow. Do not claim real payout integration or a completed production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Zia capabilities depend on configuration and availability. Our earlier Build Agent attempt reported validation errors, so successful generation is not claimed. Future judgment: AI assistance may reduce repetitive construction while increasing the importance of review. Reference: https://help.zoho.com/portal/en/kb/creator/developer-guide/operations/zia/articles/ai-capabilities-in-creator-powered-by-zia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an architectural recommendation drawn from the laboratory use case. A sequential payout simulation does not establish concurrent transaction safety. Reference: https://help.zoho.com/portal/en/kb/creator/developer-guide/others/platform-performance/articles/platform-performance https://help.zoho.com/portal/en/kb/creator/developer-guide/workflows/functions/articles/create-new-deluge-function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a proposed personal learning plan. It is not completed training. Use the existing application as the portfolio project and close one verified gap at a time. Reference for learning options: https://www.zoho.com/creator/training/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Conclude that certification can structure learning, while a runnable project and evidence help explain actual skills. Certification does not guarantee employment. Viva prompt: which role interests you most, and which project gap will you close next? Reference: https://www.zoho.com/creator/certification.html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23025ED-0D60-4717-BD7F-13E9D7F88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6BBCE6B-0799-463F-B42C-07B4D6D71D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DB173EE-B78C-4479-9DF2-CD016FF7E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492A6AB-5A12-4951-90B4-75C444146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94A3E0AD-4D70-44F9-B1C5-4FE04E57A1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E3C5EAC0-9095-4289-B549-F98EE9A7E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4FDFF845-0A29-4399-8113-4FE7E769C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780F9A7-C1ED-42BD-94E4-8F2A190FBEB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237CD19-601D-4DAA-9C48-C6CBADA1A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3CEDCFBB-4994-4A5B-8509-6DD809150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1E4B4226-F92B-461D-BA6D-B481FA481A70}"/>
              </a:ext>
            </a:extLst>
          </p:cNvPr>
          <p:cNvSpPr>
            <a:spLocks noGrp="1"/>
          </p:cNvSpPr>
          <p:nvPr/>
        </p:nvSpPr>
        <p:spPr>
          <a:xfrm>
            <a:off x="723900" y="1428750"/>
            <a:ext cx="106680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435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435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435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435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435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435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435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435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435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435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435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 dirty="0">
                <a:solidFill>
                  <a:srgbClr val="142D4E"/>
                </a:solidFill>
                <a:latin typeface="DejaVu Sans"/>
                <a:ea typeface="DejaVu Sans"/>
                <a:cs typeface="DejaVu Sans"/>
              </a:rPr>
              <a:t>Low-code careers</a:t>
            </a:r>
          </a:p>
          <a:p>
            <a:pPr>
              <a:defRPr sz="435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r>
              <a:rPr sz="4350" b="1" dirty="0">
                <a:solidFill>
                  <a:srgbClr val="142D4E"/>
                </a:solidFill>
                <a:latin typeface="DejaVu Sans"/>
                <a:ea typeface="DejaVu Sans"/>
                <a:cs typeface="DejaVu Sans"/>
              </a:rPr>
              <a:t>and future directions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A6B94E5A-0247-4D91-BE61-DC6963C0032F}"/>
              </a:ext>
            </a:extLst>
          </p:cNvPr>
          <p:cNvSpPr>
            <a:spLocks noGrp="1"/>
          </p:cNvSpPr>
          <p:nvPr/>
        </p:nvSpPr>
        <p:spPr>
          <a:xfrm>
            <a:off x="762000" y="3905250"/>
            <a:ext cx="9525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100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00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 dirty="0">
                <a:solidFill>
                  <a:srgbClr val="243447"/>
                </a:solidFill>
                <a:latin typeface="DejaVu Sans"/>
                <a:ea typeface="DejaVu Sans"/>
                <a:cs typeface="DejaVu Sans"/>
              </a:rPr>
              <a:t>Experiment 15</a:t>
            </a:r>
            <a:endParaRPr lang="en-IN" dirty="0"/>
          </a:p>
          <a:p>
            <a:pPr>
              <a:defRPr sz="2100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r>
              <a:rPr lang="en-IN" sz="2100" b="0" dirty="0">
                <a:solidFill>
                  <a:srgbClr val="243447"/>
                </a:solidFill>
                <a:latin typeface="DejaVu Sans"/>
                <a:ea typeface="DejaVu Sans"/>
                <a:cs typeface="DejaVu Sans"/>
              </a:rPr>
              <a:t>Bhagawath Narayanan N - (241501034)</a:t>
            </a:r>
            <a:endParaRPr sz="2100" b="0" dirty="0">
              <a:solidFill>
                <a:srgbClr val="243447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D0E6A44B-D58A-46E8-B4DD-CC237647A003}"/>
              </a:ext>
            </a:extLst>
          </p:cNvPr>
          <p:cNvSpPr>
            <a:spLocks noGrp="1"/>
          </p:cNvSpPr>
          <p:nvPr/>
        </p:nvSpPr>
        <p:spPr>
          <a:xfrm>
            <a:off x="11144250" y="63436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34898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93B1B550-BA0D-43EE-BF4F-3ED16873AECB}"/>
              </a:ext>
            </a:extLst>
          </p:cNvPr>
          <p:cNvSpPr>
            <a:spLocks noGrp="1"/>
          </p:cNvSpPr>
          <p:nvPr/>
        </p:nvSpPr>
        <p:spPr>
          <a:xfrm>
            <a:off x="723900" y="523875"/>
            <a:ext cx="10668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r>
              <a:rPr lang="en-IN" dirty="0"/>
              <a:t>Loan Application Management System</a:t>
            </a:r>
          </a:p>
          <a:p>
            <a: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endParaRPr sz="3300" b="1" dirty="0">
              <a:solidFill>
                <a:srgbClr val="142D4E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14A5E4C0-75E3-414B-AE2B-46179D7E2402}"/>
              </a:ext>
            </a:extLst>
          </p:cNvPr>
          <p:cNvSpPr>
            <a:spLocks noGrp="1"/>
          </p:cNvSpPr>
          <p:nvPr/>
        </p:nvSpPr>
        <p:spPr>
          <a:xfrm>
            <a:off x="762000" y="1714500"/>
            <a:ext cx="10477500" cy="447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r>
              <a:rPr lang="en-IN" b="1" dirty="0"/>
              <a:t>Application Developer</a:t>
            </a:r>
            <a:endParaRPr lang="en-IN" dirty="0"/>
          </a:p>
          <a:p>
            <a:pPr lvl="0"/>
            <a:r>
              <a:rPr lang="en-IN" dirty="0"/>
              <a:t>Build loan application forms and reports</a:t>
            </a:r>
          </a:p>
          <a:p>
            <a:pPr lvl="0"/>
            <a:r>
              <a:rPr lang="en-IN" dirty="0"/>
              <a:t>Design dashboards and approval workflows</a:t>
            </a:r>
          </a:p>
          <a:p>
            <a:pPr lvl="0"/>
            <a:endParaRPr lang="en-IN" dirty="0"/>
          </a:p>
          <a:p>
            <a:r>
              <a:rPr lang="en-IN" b="1" dirty="0"/>
              <a:t>Integration Developer</a:t>
            </a:r>
            <a:endParaRPr lang="en-IN" dirty="0"/>
          </a:p>
          <a:p>
            <a:pPr lvl="0"/>
            <a:r>
              <a:rPr lang="en-IN" dirty="0"/>
              <a:t>Connect external services using APIs</a:t>
            </a:r>
          </a:p>
          <a:p>
            <a:pPr lvl="0"/>
            <a:r>
              <a:rPr lang="en-IN" dirty="0"/>
              <a:t>Handle errors and failed requests</a:t>
            </a:r>
          </a:p>
          <a:p>
            <a:pPr lvl="0"/>
            <a:endParaRPr lang="en-IN" dirty="0"/>
          </a:p>
          <a:p>
            <a:r>
              <a:rPr lang="en-IN" b="1" dirty="0"/>
              <a:t>Process Analyst / Platform Administrator</a:t>
            </a:r>
            <a:endParaRPr lang="en-IN" dirty="0"/>
          </a:p>
          <a:p>
            <a:pPr lvl="0"/>
            <a:r>
              <a:rPr lang="en-IN" dirty="0"/>
              <a:t>Define loan processing requirements</a:t>
            </a:r>
          </a:p>
          <a:p>
            <a:pPr lvl="0"/>
            <a:r>
              <a:rPr lang="en-IN" dirty="0"/>
              <a:t>Manage user roles, permissions and security</a:t>
            </a:r>
          </a:p>
          <a:p>
            <a: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endParaRPr sz="2025" b="0" dirty="0">
              <a:solidFill>
                <a:srgbClr val="243447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E454DD90-2642-4B9F-A31A-4549DA72979B}"/>
              </a:ext>
            </a:extLst>
          </p:cNvPr>
          <p:cNvSpPr>
            <a:spLocks noGrp="1"/>
          </p:cNvSpPr>
          <p:nvPr/>
        </p:nvSpPr>
        <p:spPr>
          <a:xfrm>
            <a:off x="11144250" y="63436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05147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85908B75-A58C-45DC-AFE4-DC755963A2D8}"/>
              </a:ext>
            </a:extLst>
          </p:cNvPr>
          <p:cNvSpPr>
            <a:spLocks noGrp="1"/>
          </p:cNvSpPr>
          <p:nvPr/>
        </p:nvSpPr>
        <p:spPr>
          <a:xfrm>
            <a:off x="723900" y="523875"/>
            <a:ext cx="10668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 dirty="0">
                <a:solidFill>
                  <a:srgbClr val="142D4E"/>
                </a:solidFill>
                <a:latin typeface="DejaVu Sans"/>
                <a:ea typeface="DejaVu Sans"/>
                <a:cs typeface="DejaVu Sans"/>
              </a:rPr>
              <a:t>Skills behind the platform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FEB4D7EC-284B-4A8C-B0DB-71ABF9485914}"/>
              </a:ext>
            </a:extLst>
          </p:cNvPr>
          <p:cNvSpPr>
            <a:spLocks noGrp="1"/>
          </p:cNvSpPr>
          <p:nvPr/>
        </p:nvSpPr>
        <p:spPr>
          <a:xfrm>
            <a:off x="762000" y="1714500"/>
            <a:ext cx="10477500" cy="447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r>
              <a:rPr lang="en-IN" b="1" dirty="0"/>
              <a:t>Data Modelling and Management</a:t>
            </a:r>
            <a:br>
              <a:rPr lang="en-IN" dirty="0"/>
            </a:br>
            <a:r>
              <a:rPr lang="en-IN" dirty="0"/>
              <a:t>Design loan application forms, organize applicant details, validate inputs and calculate financial values accurately.</a:t>
            </a:r>
          </a:p>
          <a:p>
            <a:endParaRPr lang="en-IN" dirty="0"/>
          </a:p>
          <a:p>
            <a:r>
              <a:rPr lang="en-IN" b="1" dirty="0"/>
              <a:t>Deluge Scripting and API Integration</a:t>
            </a:r>
            <a:br>
              <a:rPr lang="en-IN" dirty="0"/>
            </a:br>
            <a:r>
              <a:rPr lang="en-IN" dirty="0"/>
              <a:t>Develop reusable custom functions, automate loan approval workflows, connect external services through APIs and handle errors securely.</a:t>
            </a:r>
          </a:p>
          <a:p>
            <a:endParaRPr lang="en-IN" dirty="0"/>
          </a:p>
          <a:p>
            <a:r>
              <a:rPr lang="en-IN" b="1" dirty="0"/>
              <a:t>Testing, Security and Governance</a:t>
            </a:r>
            <a:br>
              <a:rPr lang="en-IN" dirty="0"/>
            </a:br>
            <a:r>
              <a:rPr lang="en-IN" dirty="0"/>
              <a:t>Perform independent user testing, configure role-based access control, review application permissions, maintain data accuracy and verify recovery procedures.</a:t>
            </a:r>
          </a:p>
          <a:p>
            <a: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endParaRPr sz="2025" b="0" dirty="0">
              <a:solidFill>
                <a:srgbClr val="243447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216BDAC8-53B4-44E8-8664-7434383148FC}"/>
              </a:ext>
            </a:extLst>
          </p:cNvPr>
          <p:cNvSpPr>
            <a:spLocks noGrp="1"/>
          </p:cNvSpPr>
          <p:nvPr/>
        </p:nvSpPr>
        <p:spPr>
          <a:xfrm>
            <a:off x="11144250" y="63436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90442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29AE73B5-18A7-4C6D-B3FB-AC1DD8850F6F}"/>
              </a:ext>
            </a:extLst>
          </p:cNvPr>
          <p:cNvSpPr>
            <a:spLocks noGrp="1"/>
          </p:cNvSpPr>
          <p:nvPr/>
        </p:nvSpPr>
        <p:spPr>
          <a:xfrm>
            <a:off x="723900" y="523875"/>
            <a:ext cx="10668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 dirty="0">
                <a:solidFill>
                  <a:srgbClr val="142D4E"/>
                </a:solidFill>
                <a:latin typeface="DejaVu Sans"/>
                <a:ea typeface="DejaVu Sans"/>
                <a:cs typeface="DejaVu Sans"/>
              </a:rPr>
              <a:t>Portfolio evidence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BD2841EB-CB69-40D6-A479-F17499872E4A}"/>
              </a:ext>
            </a:extLst>
          </p:cNvPr>
          <p:cNvSpPr>
            <a:spLocks noGrp="1"/>
          </p:cNvSpPr>
          <p:nvPr/>
        </p:nvSpPr>
        <p:spPr>
          <a:xfrm>
            <a:off x="304801" y="1476375"/>
            <a:ext cx="6567947" cy="5133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r>
              <a:rPr lang="en-IN" b="1" dirty="0"/>
              <a:t>Application Forms and Reports</a:t>
            </a:r>
            <a:endParaRPr lang="en-IN" dirty="0"/>
          </a:p>
          <a:p>
            <a:r>
              <a:rPr lang="en-IN" dirty="0"/>
              <a:t>Loan application forms, applicant details, status reports and dashboards for tracking applications.</a:t>
            </a:r>
          </a:p>
          <a:p>
            <a:r>
              <a:rPr lang="en-IN" b="1" dirty="0"/>
              <a:t>Deluge Workflows and Test Results</a:t>
            </a:r>
            <a:endParaRPr lang="en-IN" dirty="0"/>
          </a:p>
          <a:p>
            <a:r>
              <a:rPr lang="en-IN" dirty="0"/>
              <a:t>Automated validation, debt-to-income calculations, status updates, and documented test cases with expected results.</a:t>
            </a:r>
          </a:p>
          <a:p>
            <a:r>
              <a:rPr lang="en-IN" b="1" dirty="0"/>
              <a:t>Clear Labels for Simulated Loan Decisions</a:t>
            </a:r>
            <a:endParaRPr lang="en-IN" dirty="0"/>
          </a:p>
          <a:p>
            <a:r>
              <a:rPr lang="en-IN" dirty="0"/>
              <a:t>Clearly identify sample approval decisions and calculated values as demonstrations, not actual financial approvals.</a:t>
            </a:r>
          </a:p>
          <a:p>
            <a:r>
              <a:rPr lang="en-IN" b="1" dirty="0"/>
              <a:t>Reproducible Demo and Stated Limitations</a:t>
            </a:r>
            <a:endParaRPr lang="en-IN" dirty="0"/>
          </a:p>
          <a:p>
            <a:r>
              <a:rPr lang="en-IN" dirty="0"/>
              <a:t>Provide sample records, a step-by-step demonstration, and documented limitations covering integrations, security, and real-world loan processing.</a:t>
            </a:r>
          </a:p>
          <a:p>
            <a: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endParaRPr sz="2025" b="0" dirty="0">
              <a:solidFill>
                <a:srgbClr val="243447"/>
              </a:solidFill>
              <a:latin typeface="DejaVu Sans"/>
              <a:ea typeface="DejaVu Sans"/>
              <a:cs typeface="DejaVu San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D0BCC10-CEAF-43C4-AB53-DC0A89E2E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032604" y="1762125"/>
            <a:ext cx="4854595" cy="3333750"/>
          </a:xfrm>
          <a:prstGeom prst="rect">
            <a:avLst/>
          </a:prstGeom>
        </p:spPr>
      </p:pic>
      <p:sp>
        <p:nvSpPr>
          <p:cNvPr id="4" name="page">
            <a:extLst>
              <a:ext uri="{FF2B5EF4-FFF2-40B4-BE49-F238E27FC236}">
                <a16:creationId xmlns:a16="http://schemas.microsoft.com/office/drawing/2014/main" id="{245E880A-9164-41B6-A080-397E534150FD}"/>
              </a:ext>
            </a:extLst>
          </p:cNvPr>
          <p:cNvSpPr>
            <a:spLocks noGrp="1"/>
          </p:cNvSpPr>
          <p:nvPr/>
        </p:nvSpPr>
        <p:spPr>
          <a:xfrm>
            <a:off x="11144250" y="63436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A53040-AEAD-8EEE-4931-A94DD4A313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2748" y="1762125"/>
            <a:ext cx="5230761" cy="3488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046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DB9659B6-CE3D-464D-9FEE-A2DFEE69633A}"/>
              </a:ext>
            </a:extLst>
          </p:cNvPr>
          <p:cNvSpPr>
            <a:spLocks noGrp="1"/>
          </p:cNvSpPr>
          <p:nvPr/>
        </p:nvSpPr>
        <p:spPr>
          <a:xfrm>
            <a:off x="723900" y="523874"/>
            <a:ext cx="1066800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r>
              <a:rPr lang="en-IN" dirty="0"/>
              <a:t>AI-Assisted Development</a:t>
            </a:r>
            <a:endParaRPr sz="3300" b="1" dirty="0">
              <a:solidFill>
                <a:srgbClr val="142D4E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1D32499F-4CF0-4353-8120-CF57F43349F5}"/>
              </a:ext>
            </a:extLst>
          </p:cNvPr>
          <p:cNvSpPr>
            <a:spLocks noGrp="1"/>
          </p:cNvSpPr>
          <p:nvPr/>
        </p:nvSpPr>
        <p:spPr>
          <a:xfrm>
            <a:off x="762000" y="1714500"/>
            <a:ext cx="10477500" cy="447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r>
              <a:rPr lang="en-IN" b="1" dirty="0"/>
              <a:t>Current Capability</a:t>
            </a:r>
            <a:br>
              <a:rPr lang="en-IN" dirty="0"/>
            </a:br>
            <a:r>
              <a:rPr lang="en-IN" dirty="0"/>
              <a:t>Zia assists with application design, form creation, Deluge scripting and workflow automation in Zoho Creator.</a:t>
            </a:r>
          </a:p>
          <a:p>
            <a:endParaRPr lang="en-IN" dirty="0"/>
          </a:p>
          <a:p>
            <a:r>
              <a:rPr lang="en-IN" b="1" dirty="0"/>
              <a:t>Developer Responsibility</a:t>
            </a:r>
            <a:br>
              <a:rPr lang="en-IN" dirty="0"/>
            </a:br>
            <a:r>
              <a:rPr lang="en-IN" dirty="0"/>
              <a:t>Review the generated forms, field names, scripts, and business logic. Test validations, calculations and workflows before using them.</a:t>
            </a:r>
          </a:p>
          <a:p>
            <a:endParaRPr lang="en-IN" dirty="0"/>
          </a:p>
          <a:p>
            <a:r>
              <a:rPr lang="en-IN" b="1" dirty="0"/>
              <a:t>Observed Lesson</a:t>
            </a:r>
            <a:br>
              <a:rPr lang="en-IN" dirty="0"/>
            </a:br>
            <a:r>
              <a:rPr lang="en-IN" dirty="0"/>
              <a:t>Our earlier AI-generated script failed validation because of incorrect field references and logic errors, highlighting the need for manual review and testing.</a:t>
            </a:r>
          </a:p>
          <a:p>
            <a: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endParaRPr sz="2025" b="0" dirty="0">
              <a:solidFill>
                <a:srgbClr val="243447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E231B030-C6FE-47D2-B639-A584F91BF194}"/>
              </a:ext>
            </a:extLst>
          </p:cNvPr>
          <p:cNvSpPr>
            <a:spLocks noGrp="1"/>
          </p:cNvSpPr>
          <p:nvPr/>
        </p:nvSpPr>
        <p:spPr>
          <a:xfrm>
            <a:off x="11144250" y="63436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441994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704D0309-AA3C-407D-B78D-94D4196D9ECD}"/>
              </a:ext>
            </a:extLst>
          </p:cNvPr>
          <p:cNvSpPr>
            <a:spLocks noGrp="1"/>
          </p:cNvSpPr>
          <p:nvPr/>
        </p:nvSpPr>
        <p:spPr>
          <a:xfrm>
            <a:off x="723900" y="523875"/>
            <a:ext cx="10668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 dirty="0">
                <a:solidFill>
                  <a:srgbClr val="142D4E"/>
                </a:solidFill>
                <a:latin typeface="DejaVu Sans"/>
                <a:ea typeface="DejaVu Sans"/>
                <a:cs typeface="DejaVu Sans"/>
              </a:rPr>
              <a:t>Custom code and hybrid systems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04DAC3AD-11B6-4C8D-90E6-6404EB74E7EE}"/>
              </a:ext>
            </a:extLst>
          </p:cNvPr>
          <p:cNvSpPr>
            <a:spLocks noGrp="1"/>
          </p:cNvSpPr>
          <p:nvPr/>
        </p:nvSpPr>
        <p:spPr>
          <a:xfrm>
            <a:off x="762000" y="1714500"/>
            <a:ext cx="10477500" cy="447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r>
              <a:rPr lang="en-IN" b="1" dirty="0"/>
              <a:t>Zoho Creator as the Operations Interface</a:t>
            </a:r>
            <a:br>
              <a:rPr lang="en-IN" dirty="0"/>
            </a:br>
            <a:r>
              <a:rPr lang="en-IN" dirty="0"/>
              <a:t>Manage loan application forms, processing queues, reports and controlled reviews through a centralized interface.</a:t>
            </a:r>
          </a:p>
          <a:p>
            <a:endParaRPr lang="en-IN" dirty="0"/>
          </a:p>
          <a:p>
            <a:r>
              <a:rPr lang="en-IN" b="1" dirty="0"/>
              <a:t>Custom Functions for Business Logic</a:t>
            </a:r>
            <a:br>
              <a:rPr lang="en-IN" dirty="0"/>
            </a:br>
            <a:r>
              <a:rPr lang="en-IN" dirty="0"/>
              <a:t>Use reusable Deluge functions to validate applicant details, calculate debt-to-income ratios, and manage application status across multiple workflows.</a:t>
            </a:r>
          </a:p>
          <a:p>
            <a:endParaRPr lang="en-IN" dirty="0"/>
          </a:p>
          <a:p>
            <a:r>
              <a:rPr lang="en-IN" b="1" dirty="0"/>
              <a:t>External Services and Error Handling</a:t>
            </a:r>
            <a:br>
              <a:rPr lang="en-IN" dirty="0"/>
            </a:br>
            <a:r>
              <a:rPr lang="en-IN" dirty="0"/>
              <a:t>Integrate external services through APIs and test provider errors, duplicate requests, failed transactions, and recovery procedures to ensure reliable processing.</a:t>
            </a:r>
          </a:p>
          <a:p>
            <a: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endParaRPr sz="2025" b="0" dirty="0">
              <a:solidFill>
                <a:srgbClr val="243447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51130156-299B-42C4-B3C6-46D3A61AFB72}"/>
              </a:ext>
            </a:extLst>
          </p:cNvPr>
          <p:cNvSpPr>
            <a:spLocks noGrp="1"/>
          </p:cNvSpPr>
          <p:nvPr/>
        </p:nvSpPr>
        <p:spPr>
          <a:xfrm>
            <a:off x="11144250" y="63436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59095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8BCD78EC-0466-4049-B1A7-D096E6273B20}"/>
              </a:ext>
            </a:extLst>
          </p:cNvPr>
          <p:cNvSpPr>
            <a:spLocks noGrp="1"/>
          </p:cNvSpPr>
          <p:nvPr/>
        </p:nvSpPr>
        <p:spPr>
          <a:xfrm>
            <a:off x="723900" y="523875"/>
            <a:ext cx="10668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 dirty="0">
                <a:solidFill>
                  <a:srgbClr val="142D4E"/>
                </a:solidFill>
                <a:latin typeface="DejaVu Sans"/>
                <a:ea typeface="DejaVu Sans"/>
                <a:cs typeface="DejaVu Sans"/>
              </a:rPr>
              <a:t>An eight-week learning plan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94319EE8-4609-447F-8A42-99B698BFA899}"/>
              </a:ext>
            </a:extLst>
          </p:cNvPr>
          <p:cNvSpPr>
            <a:spLocks noGrp="1"/>
          </p:cNvSpPr>
          <p:nvPr/>
        </p:nvSpPr>
        <p:spPr>
          <a:xfrm>
            <a:off x="762000" y="1714500"/>
            <a:ext cx="10477500" cy="489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r>
              <a:rPr lang="en-IN" b="1" dirty="0"/>
              <a:t>Weeks 1–2: Data Modelling and Validation</a:t>
            </a:r>
            <a:br>
              <a:rPr lang="en-IN" dirty="0"/>
            </a:br>
            <a:r>
              <a:rPr lang="en-IN" dirty="0"/>
              <a:t>Refine loan application forms, verify field relationships, improve Deluge validation and test financial calculations.</a:t>
            </a:r>
          </a:p>
          <a:p>
            <a:endParaRPr lang="en-IN" dirty="0"/>
          </a:p>
          <a:p>
            <a:r>
              <a:rPr lang="en-IN" b="1" dirty="0"/>
              <a:t>Weeks 3–4: API Integration and Automation</a:t>
            </a:r>
            <a:br>
              <a:rPr lang="en-IN" dirty="0"/>
            </a:br>
            <a:r>
              <a:rPr lang="en-IN" dirty="0"/>
              <a:t>Implement one authenticated API integration, improve custom functions, and handle failed requests and duplicate submissions.</a:t>
            </a:r>
          </a:p>
          <a:p>
            <a:endParaRPr lang="en-IN" dirty="0"/>
          </a:p>
          <a:p>
            <a:r>
              <a:rPr lang="en-IN" b="1" dirty="0"/>
              <a:t>Weeks 5–6: Security Testing and Deployment</a:t>
            </a:r>
            <a:br>
              <a:rPr lang="en-IN" dirty="0"/>
            </a:br>
            <a:r>
              <a:rPr lang="en-IN" dirty="0"/>
              <a:t>Test Administrator, Loan Officer, and Applicant roles, verify access permissions, debug workflows, and prepare a production release.</a:t>
            </a:r>
          </a:p>
          <a:p>
            <a:endParaRPr lang="en-IN" dirty="0"/>
          </a:p>
          <a:p>
            <a:r>
              <a:rPr lang="en-IN" b="1" dirty="0"/>
              <a:t>Weeks 7–8: Documentation and Demonstration</a:t>
            </a:r>
            <a:br>
              <a:rPr lang="en-IN" dirty="0"/>
            </a:br>
            <a:r>
              <a:rPr lang="en-IN" dirty="0"/>
              <a:t>Complete project documentation, prepare test results and screenshots, publish the case study and rehearse the final project demonstration.</a:t>
            </a:r>
          </a:p>
          <a:p>
            <a: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endParaRPr sz="2025" b="0" dirty="0">
              <a:solidFill>
                <a:srgbClr val="243447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89B35E54-2ECA-4E45-BC96-2CFE0DC22547}"/>
              </a:ext>
            </a:extLst>
          </p:cNvPr>
          <p:cNvSpPr>
            <a:spLocks noGrp="1"/>
          </p:cNvSpPr>
          <p:nvPr/>
        </p:nvSpPr>
        <p:spPr>
          <a:xfrm>
            <a:off x="11144250" y="63436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58276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76553751-2383-4F6A-B666-8DF540DE5876}"/>
              </a:ext>
            </a:extLst>
          </p:cNvPr>
          <p:cNvSpPr>
            <a:spLocks noGrp="1"/>
          </p:cNvSpPr>
          <p:nvPr/>
        </p:nvSpPr>
        <p:spPr>
          <a:xfrm>
            <a:off x="723900" y="523875"/>
            <a:ext cx="10668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300" b="1">
                <a:solidFill>
                  <a:srgbClr val="142D4E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 dirty="0">
                <a:solidFill>
                  <a:srgbClr val="142D4E"/>
                </a:solidFill>
                <a:latin typeface="DejaVu Sans"/>
                <a:ea typeface="DejaVu Sans"/>
                <a:cs typeface="DejaVu Sans"/>
              </a:rPr>
              <a:t>Professional readiness</a:t>
            </a:r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F24EF9B-7065-4D4F-8571-A25EAC8B045A}"/>
              </a:ext>
            </a:extLst>
          </p:cNvPr>
          <p:cNvSpPr>
            <a:spLocks noGrp="1"/>
          </p:cNvSpPr>
          <p:nvPr/>
        </p:nvSpPr>
        <p:spPr>
          <a:xfrm>
            <a:off x="819150" y="1360539"/>
            <a:ext cx="10477500" cy="50599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Demonstrate application features and business requirements.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Show successful tests and error handling.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Clearly explain project limitations and future improvements.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+mj-lt"/>
              </a:rPr>
              <a:t>Support practical experience with relevant certifications.</a:t>
            </a:r>
          </a:p>
          <a:p>
            <a:pPr>
              <a:defRPr sz="2025" b="0">
                <a:solidFill>
                  <a:srgbClr val="243447"/>
                </a:solidFill>
                <a:latin typeface="DejaVu Sans"/>
                <a:ea typeface="DejaVu Sans"/>
                <a:cs typeface="DejaVu Sans"/>
              </a:defRPr>
            </a:pPr>
            <a:endParaRPr sz="2025" b="0" dirty="0">
              <a:solidFill>
                <a:srgbClr val="243447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E8DB7E0D-3FE8-4306-9FAD-13F67757A5B4}"/>
              </a:ext>
            </a:extLst>
          </p:cNvPr>
          <p:cNvSpPr>
            <a:spLocks noGrp="1"/>
          </p:cNvSpPr>
          <p:nvPr/>
        </p:nvSpPr>
        <p:spPr>
          <a:xfrm>
            <a:off x="11144250" y="63436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4748B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66564938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1008</Words>
  <Application>Microsoft Office PowerPoint</Application>
  <DocSecurity>0</DocSecurity>
  <PresentationFormat>Widescreen</PresentationFormat>
  <Paragraphs>72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DejaVu Sans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Bhagawath narayanan n</cp:lastModifiedBy>
  <cp:revision>1</cp:revision>
  <dcterms:created xsi:type="dcterms:W3CDTF">2026-10-19T17:06:44Z</dcterms:created>
  <dcterms:modified xsi:type="dcterms:W3CDTF">2026-10-20T17:00:01Z</dcterms:modified>
</cp:coreProperties>
</file>